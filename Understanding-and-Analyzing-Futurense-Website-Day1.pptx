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DM Sans Semi Bold" panose="020B0604020202020204" charset="0"/>
      <p:regular r:id="rId11"/>
    </p:embeddedFont>
    <p:embeddedFont>
      <p:font typeface="Inter Medium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332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1:09:47.495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429 429 24560,'-429'-214'0,"858"0"0,-858 428 0,4224-214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1:09:56.771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0 24531,'0'862'0,"4461"-862"0,-4461-862 0,-4461 862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1:09:59.495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0 0 24575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1:09:59.669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0 0 24575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1:09:59.893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0 0 24575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2137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image" Target="../media/image5.png"/><Relationship Id="rId5" Type="http://schemas.openxmlformats.org/officeDocument/2006/relationships/customXml" Target="../ink/ink2.xml"/><Relationship Id="rId10" Type="http://schemas.openxmlformats.org/officeDocument/2006/relationships/customXml" Target="../ink/ink5.xml"/><Relationship Id="rId4" Type="http://schemas.openxmlformats.org/officeDocument/2006/relationships/image" Target="../media/image2.png"/><Relationship Id="rId9" Type="http://schemas.openxmlformats.org/officeDocument/2006/relationships/customXml" Target="../ink/ink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svg"/><Relationship Id="rId18" Type="http://schemas.openxmlformats.org/officeDocument/2006/relationships/image" Target="../media/image5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sv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svg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11" Type="http://schemas.openxmlformats.org/officeDocument/2006/relationships/image" Target="../media/image30.svg"/><Relationship Id="rId5" Type="http://schemas.openxmlformats.org/officeDocument/2006/relationships/image" Target="../media/image24.sv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4.sv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svg"/><Relationship Id="rId9" Type="http://schemas.openxmlformats.org/officeDocument/2006/relationships/image" Target="../media/image3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32303"/>
            <a:ext cx="1268039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Understanding &amp; Analyzing Futurense Website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31808"/>
            <a:ext cx="814375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AI-First Education &amp; Talent Solutions 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4165759"/>
            <a:ext cx="397954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25,000+ Careers Transformed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334357" y="41657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540+ Hiring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873496" y="4165759"/>
            <a:ext cx="307288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40+ University Collabs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535638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97443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                                                                                                                                                                                                By Sharanya</a:t>
            </a:r>
            <a:endParaRPr lang="en-US" sz="17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0CC0D06-2E04-4032-3364-54A1B91CE8E9}"/>
                  </a:ext>
                </a:extLst>
              </p14:cNvPr>
              <p14:cNvContentPartPr/>
              <p14:nvPr/>
            </p14:nvContentPartPr>
            <p14:xfrm>
              <a:off x="12996805" y="7864224"/>
              <a:ext cx="1366560" cy="154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0CC0D06-2E04-4032-3364-54A1B91CE8E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933805" y="7801584"/>
                <a:ext cx="149220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F6CFC1D5-ADAF-2650-E4FF-2E2D3411BE43}"/>
                  </a:ext>
                </a:extLst>
              </p14:cNvPr>
              <p14:cNvContentPartPr/>
              <p14:nvPr/>
            </p14:nvContentPartPr>
            <p14:xfrm>
              <a:off x="13005085" y="7793304"/>
              <a:ext cx="1606320" cy="3106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F6CFC1D5-ADAF-2650-E4FF-2E2D3411BE4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942445" y="7730304"/>
                <a:ext cx="1731960" cy="436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F19ED04A-0299-CAE1-85C8-A5FAF41BECA7}"/>
              </a:ext>
            </a:extLst>
          </p:cNvPr>
          <p:cNvGrpSpPr/>
          <p:nvPr/>
        </p:nvGrpSpPr>
        <p:grpSpPr>
          <a:xfrm>
            <a:off x="14537605" y="7941624"/>
            <a:ext cx="360" cy="360"/>
            <a:chOff x="14537605" y="7941624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95BB208-AF56-3834-EDF3-236EE4342EB2}"/>
                    </a:ext>
                  </a:extLst>
                </p14:cNvPr>
                <p14:cNvContentPartPr/>
                <p14:nvPr/>
              </p14:nvContentPartPr>
              <p14:xfrm>
                <a:off x="14537605" y="7941624"/>
                <a:ext cx="360" cy="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95BB208-AF56-3834-EDF3-236EE4342EB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4474605" y="7878624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BE742DD-504A-9851-6509-564F973B7634}"/>
                    </a:ext>
                  </a:extLst>
                </p14:cNvPr>
                <p14:cNvContentPartPr/>
                <p14:nvPr/>
              </p14:nvContentPartPr>
              <p14:xfrm>
                <a:off x="14537605" y="7941624"/>
                <a:ext cx="36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BE742DD-504A-9851-6509-564F973B763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4474605" y="7878624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6F6D9E6-40F9-4A63-D644-0EB7F6451449}"/>
                    </a:ext>
                  </a:extLst>
                </p14:cNvPr>
                <p14:cNvContentPartPr/>
                <p14:nvPr/>
              </p14:nvContentPartPr>
              <p14:xfrm>
                <a:off x="14537605" y="7941624"/>
                <a:ext cx="360" cy="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6F6D9E6-40F9-4A63-D644-0EB7F645144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4474605" y="7878624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A8DBBB9A-44EA-A969-A09D-596589D610BB}"/>
              </a:ext>
            </a:extLst>
          </p:cNvPr>
          <p:cNvSpPr/>
          <p:nvPr/>
        </p:nvSpPr>
        <p:spPr>
          <a:xfrm>
            <a:off x="12946380" y="7633699"/>
            <a:ext cx="1684020" cy="59590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8F01116-D092-084B-872B-B222CC4A5F46}"/>
              </a:ext>
            </a:extLst>
          </p:cNvPr>
          <p:cNvSpPr/>
          <p:nvPr/>
        </p:nvSpPr>
        <p:spPr>
          <a:xfrm>
            <a:off x="12709133" y="7551506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3EB9BF3-FB96-8C2C-2F44-9CA7C8BF842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44192" y="7551506"/>
            <a:ext cx="2067213" cy="628738"/>
          </a:xfrm>
          <a:prstGeom prst="rect">
            <a:avLst/>
          </a:prstGeom>
        </p:spPr>
      </p:pic>
      <p:pic>
        <p:nvPicPr>
          <p:cNvPr id="1026" name="Picture 2" descr="Futurense Official Homepage">
            <a:extLst>
              <a:ext uri="{FF2B5EF4-FFF2-40B4-BE49-F238E27FC236}">
                <a16:creationId xmlns:a16="http://schemas.microsoft.com/office/drawing/2014/main" id="{7D7FFCC5-FB87-4C58-4EBB-1C574A10A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481" y="550184"/>
            <a:ext cx="968420" cy="968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92053" y="367189"/>
            <a:ext cx="4757738" cy="417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Futurense - Mission &amp; Impact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092053" y="1051560"/>
            <a:ext cx="8446175" cy="213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Mission:</a:t>
            </a: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Bridge academia &amp; industry with real-world AI skilling for Day-1 productive talent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092053" y="1415415"/>
            <a:ext cx="4156353" cy="1009531"/>
          </a:xfrm>
          <a:prstGeom prst="roundRect">
            <a:avLst>
              <a:gd name="adj" fmla="val 1984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25522" y="1548884"/>
            <a:ext cx="400526" cy="400526"/>
          </a:xfrm>
          <a:prstGeom prst="roundRect">
            <a:avLst>
              <a:gd name="adj" fmla="val 22827696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35655" y="1659017"/>
            <a:ext cx="180261" cy="1802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25522" y="2082879"/>
            <a:ext cx="2379107" cy="208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25,000+ careers transformed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81875" y="1415415"/>
            <a:ext cx="4156353" cy="1009531"/>
          </a:xfrm>
          <a:prstGeom prst="roundRect">
            <a:avLst>
              <a:gd name="adj" fmla="val 1984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515344" y="1548884"/>
            <a:ext cx="400526" cy="400526"/>
          </a:xfrm>
          <a:prstGeom prst="roundRect">
            <a:avLst>
              <a:gd name="adj" fmla="val 22827696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5477" y="1659017"/>
            <a:ext cx="180261" cy="18026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15344" y="2082879"/>
            <a:ext cx="1669137" cy="208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540+ hiring partners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092053" y="2558415"/>
            <a:ext cx="4156353" cy="1009531"/>
          </a:xfrm>
          <a:prstGeom prst="roundRect">
            <a:avLst>
              <a:gd name="adj" fmla="val 1984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225522" y="2691884"/>
            <a:ext cx="400526" cy="400526"/>
          </a:xfrm>
          <a:prstGeom prst="roundRect">
            <a:avLst>
              <a:gd name="adj" fmla="val 22827696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35655" y="2802017"/>
            <a:ext cx="180261" cy="18026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225522" y="3225879"/>
            <a:ext cx="1774269" cy="208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40+ university collabs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7381875" y="2558415"/>
            <a:ext cx="4156353" cy="1009531"/>
          </a:xfrm>
          <a:prstGeom prst="roundRect">
            <a:avLst>
              <a:gd name="adj" fmla="val 1984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7515344" y="2691884"/>
            <a:ext cx="400526" cy="400526"/>
          </a:xfrm>
          <a:prstGeom prst="roundRect">
            <a:avLst>
              <a:gd name="adj" fmla="val 22827696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25477" y="2802017"/>
            <a:ext cx="180261" cy="18026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515344" y="3225879"/>
            <a:ext cx="1669137" cy="208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400+ team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3092053" y="3718084"/>
            <a:ext cx="8446175" cy="213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Recent milestone:</a:t>
            </a: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Launched India's First AI Think Tank – Futurense Leadership Council (FLC) in 2025</a:t>
            </a:r>
            <a:endParaRPr lang="en-US" sz="105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06854" y="4081939"/>
            <a:ext cx="7816572" cy="378035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118890" y="6521101"/>
            <a:ext cx="1900333" cy="2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FLC Initiative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4118890" y="6826209"/>
            <a:ext cx="2896952" cy="19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Faculty learning and collaboration</a:t>
            </a:r>
            <a:endParaRPr lang="en-US" sz="10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50141" y="6521101"/>
            <a:ext cx="154798" cy="15479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118890" y="5600495"/>
            <a:ext cx="1900333" cy="237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Agentic AI Programs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4118890" y="5905604"/>
            <a:ext cx="2896952" cy="19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Hands‑on agent development courses</a:t>
            </a:r>
            <a:endParaRPr lang="en-US" sz="105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650141" y="5600495"/>
            <a:ext cx="154798" cy="15479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118890" y="4679889"/>
            <a:ext cx="1900333" cy="2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Tech‑MBA Launch</a:t>
            </a:r>
            <a:endParaRPr lang="en-US" sz="1350" dirty="0"/>
          </a:p>
        </p:txBody>
      </p:sp>
      <p:sp>
        <p:nvSpPr>
          <p:cNvPr id="29" name="Text 20"/>
          <p:cNvSpPr/>
          <p:nvPr/>
        </p:nvSpPr>
        <p:spPr>
          <a:xfrm>
            <a:off x="4118890" y="4984998"/>
            <a:ext cx="2896952" cy="190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Industry‑aligned AI business program</a:t>
            </a:r>
            <a:endParaRPr lang="en-US" sz="1050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650141" y="4679889"/>
            <a:ext cx="154798" cy="15479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ED581A9-471B-07A7-8DC4-C71D28622C9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476910" y="7547923"/>
            <a:ext cx="2067213" cy="6287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89967" y="410885"/>
            <a:ext cx="5152787" cy="46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The Integrated AI Ecosystem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9967" y="1176457"/>
            <a:ext cx="9450348" cy="462033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94416" y="3635675"/>
            <a:ext cx="295041" cy="2950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813820" y="1541514"/>
            <a:ext cx="2039178" cy="262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AI Clinic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2813820" y="1878703"/>
            <a:ext cx="2039178" cy="4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Real prototyping and enterprise mentorship</a:t>
            </a:r>
            <a:endParaRPr lang="en-US" sz="1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09144" y="3635675"/>
            <a:ext cx="295040" cy="2950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769368" y="1541514"/>
            <a:ext cx="2039179" cy="262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FLA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9769368" y="1878703"/>
            <a:ext cx="2039179" cy="4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Adaptive learning with simulation feedback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23871" y="3635675"/>
            <a:ext cx="295041" cy="2950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813820" y="3972135"/>
            <a:ext cx="2039178" cy="262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FPA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2813820" y="4309324"/>
            <a:ext cx="2039178" cy="4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Placement copilot and interview coaching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47932" y="3635675"/>
            <a:ext cx="295041" cy="29504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759889" y="3972135"/>
            <a:ext cx="2039178" cy="262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FLC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9759889" y="4309324"/>
            <a:ext cx="2039178" cy="4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 think tank of senior CXO advisors</a:t>
            </a:r>
            <a:endParaRPr lang="en-US" sz="1050" dirty="0"/>
          </a:p>
        </p:txBody>
      </p:sp>
      <p:sp>
        <p:nvSpPr>
          <p:cNvPr id="16" name="Text 9"/>
          <p:cNvSpPr/>
          <p:nvPr/>
        </p:nvSpPr>
        <p:spPr>
          <a:xfrm>
            <a:off x="2589967" y="5964793"/>
            <a:ext cx="9450348" cy="239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 Clinic</a:t>
            </a: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– Real prototyping &amp; enterprise mentorship</a:t>
            </a:r>
            <a:endParaRPr lang="en-US" sz="1150" dirty="0"/>
          </a:p>
        </p:txBody>
      </p:sp>
      <p:sp>
        <p:nvSpPr>
          <p:cNvPr id="17" name="Text 10"/>
          <p:cNvSpPr/>
          <p:nvPr/>
        </p:nvSpPr>
        <p:spPr>
          <a:xfrm>
            <a:off x="2589967" y="6256139"/>
            <a:ext cx="9450348" cy="239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FLA</a:t>
            </a: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– Adaptive AI learning with simulation feedback</a:t>
            </a:r>
            <a:endParaRPr lang="en-US" sz="1150" dirty="0"/>
          </a:p>
        </p:txBody>
      </p:sp>
      <p:sp>
        <p:nvSpPr>
          <p:cNvPr id="18" name="Text 11"/>
          <p:cNvSpPr/>
          <p:nvPr/>
        </p:nvSpPr>
        <p:spPr>
          <a:xfrm>
            <a:off x="2589967" y="6547485"/>
            <a:ext cx="9450348" cy="239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FPA</a:t>
            </a: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– Placement copilot (interview coach, offer optimizer)</a:t>
            </a:r>
            <a:endParaRPr lang="en-US" sz="1150" dirty="0"/>
          </a:p>
        </p:txBody>
      </p:sp>
      <p:sp>
        <p:nvSpPr>
          <p:cNvPr id="19" name="Text 12"/>
          <p:cNvSpPr/>
          <p:nvPr/>
        </p:nvSpPr>
        <p:spPr>
          <a:xfrm>
            <a:off x="2589967" y="6838831"/>
            <a:ext cx="9450348" cy="239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FLC</a:t>
            </a: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– India's First AI Think Tank (30+ CXOs from Google, Microsoft, etc.)</a:t>
            </a:r>
            <a:endParaRPr lang="en-US" sz="1150" dirty="0"/>
          </a:p>
        </p:txBody>
      </p:sp>
      <p:sp>
        <p:nvSpPr>
          <p:cNvPr id="20" name="Text 13"/>
          <p:cNvSpPr/>
          <p:nvPr/>
        </p:nvSpPr>
        <p:spPr>
          <a:xfrm>
            <a:off x="2814042" y="7413903"/>
            <a:ext cx="9226272" cy="239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"AI is no longer optional – it's the core of innovation" – FLC Leader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2589967" y="7245906"/>
            <a:ext cx="15240" cy="575072"/>
          </a:xfrm>
          <a:prstGeom prst="rect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AF72F2F-75B0-2769-2363-8A743DB1428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466636" y="7564217"/>
            <a:ext cx="2067213" cy="6287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8070" y="588645"/>
            <a:ext cx="10590728" cy="667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AI-First Education Model &amp; Key Programs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48070" y="1684020"/>
            <a:ext cx="13134261" cy="341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Hybrid + in-person learning (NEP 2020 compliant), hands-on projects from Day 1, internships, FLC mentorship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48070" y="2266355"/>
            <a:ext cx="4235529" cy="3938111"/>
          </a:xfrm>
          <a:prstGeom prst="roundRect">
            <a:avLst>
              <a:gd name="adj" fmla="val 814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8550" y="2296835"/>
            <a:ext cx="4174569" cy="641152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92267" y="3151703"/>
            <a:ext cx="512921" cy="401598"/>
          </a:xfrm>
          <a:prstGeom prst="roundRect">
            <a:avLst>
              <a:gd name="adj" fmla="val 6387"/>
            </a:avLst>
          </a:prstGeom>
          <a:solidFill>
            <a:srgbClr val="D4F7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0497" y="3266956"/>
            <a:ext cx="170974" cy="1709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92267" y="3638788"/>
            <a:ext cx="2882622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Futurense School of AI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992267" y="4100989"/>
            <a:ext cx="3747135" cy="341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India's only AI-native hybrid B.Tech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5197316" y="2266355"/>
            <a:ext cx="4235648" cy="3938111"/>
          </a:xfrm>
          <a:prstGeom prst="roundRect">
            <a:avLst>
              <a:gd name="adj" fmla="val 814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227796" y="2296835"/>
            <a:ext cx="4174688" cy="641152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441513" y="3151703"/>
            <a:ext cx="512921" cy="401598"/>
          </a:xfrm>
          <a:prstGeom prst="roundRect">
            <a:avLst>
              <a:gd name="adj" fmla="val 6387"/>
            </a:avLst>
          </a:prstGeom>
          <a:solidFill>
            <a:srgbClr val="D4F7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69744" y="3266956"/>
            <a:ext cx="170974" cy="17097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41513" y="3638788"/>
            <a:ext cx="2671882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IIT/IIM-backed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5441513" y="4100989"/>
            <a:ext cx="3747254" cy="341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Tech-MBA (IIT Jodhpur)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5441513" y="4517708"/>
            <a:ext cx="3747254" cy="683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PG Certificate in GenAI &amp; Agentic AI (IIT Roorkee)</a:t>
            </a:r>
            <a:endParaRPr lang="en-US" sz="1650" dirty="0"/>
          </a:p>
        </p:txBody>
      </p:sp>
      <p:sp>
        <p:nvSpPr>
          <p:cNvPr id="17" name="Text 13"/>
          <p:cNvSpPr/>
          <p:nvPr/>
        </p:nvSpPr>
        <p:spPr>
          <a:xfrm>
            <a:off x="5441513" y="5276374"/>
            <a:ext cx="3747254" cy="683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 Engineering &amp; AIOps, GenAI Cybersecurity</a:t>
            </a:r>
            <a:endParaRPr lang="en-US" sz="1650" dirty="0"/>
          </a:p>
        </p:txBody>
      </p:sp>
      <p:sp>
        <p:nvSpPr>
          <p:cNvPr id="18" name="Shape 14"/>
          <p:cNvSpPr/>
          <p:nvPr/>
        </p:nvSpPr>
        <p:spPr>
          <a:xfrm>
            <a:off x="9646682" y="2266355"/>
            <a:ext cx="4235648" cy="3938111"/>
          </a:xfrm>
          <a:prstGeom prst="roundRect">
            <a:avLst>
              <a:gd name="adj" fmla="val 814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9677162" y="2296835"/>
            <a:ext cx="4174688" cy="641152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9890879" y="3151703"/>
            <a:ext cx="512921" cy="401598"/>
          </a:xfrm>
          <a:prstGeom prst="roundRect">
            <a:avLst>
              <a:gd name="adj" fmla="val 6387"/>
            </a:avLst>
          </a:prstGeom>
          <a:solidFill>
            <a:srgbClr val="D4F7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19109" y="3266956"/>
            <a:ext cx="170974" cy="17097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890879" y="3638788"/>
            <a:ext cx="2671882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Features</a:t>
            </a:r>
            <a:endParaRPr lang="en-US" sz="2100" dirty="0"/>
          </a:p>
        </p:txBody>
      </p:sp>
      <p:sp>
        <p:nvSpPr>
          <p:cNvPr id="23" name="Text 18"/>
          <p:cNvSpPr/>
          <p:nvPr/>
        </p:nvSpPr>
        <p:spPr>
          <a:xfrm>
            <a:off x="9890879" y="4100989"/>
            <a:ext cx="3747254" cy="341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 GATE/GRE</a:t>
            </a:r>
            <a:endParaRPr lang="en-US" sz="1650" dirty="0"/>
          </a:p>
        </p:txBody>
      </p:sp>
      <p:sp>
        <p:nvSpPr>
          <p:cNvPr id="24" name="Text 19"/>
          <p:cNvSpPr/>
          <p:nvPr/>
        </p:nvSpPr>
        <p:spPr>
          <a:xfrm>
            <a:off x="9890879" y="4517708"/>
            <a:ext cx="3747254" cy="341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Optional immersion</a:t>
            </a:r>
            <a:endParaRPr lang="en-US" sz="1650" dirty="0"/>
          </a:p>
        </p:txBody>
      </p:sp>
      <p:sp>
        <p:nvSpPr>
          <p:cNvPr id="25" name="Text 20"/>
          <p:cNvSpPr/>
          <p:nvPr/>
        </p:nvSpPr>
        <p:spPr>
          <a:xfrm>
            <a:off x="9890879" y="4934426"/>
            <a:ext cx="3747254" cy="341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EMI options</a:t>
            </a:r>
            <a:endParaRPr lang="en-US" sz="165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31356" y="6582847"/>
            <a:ext cx="1567458" cy="854988"/>
          </a:xfrm>
          <a:prstGeom prst="rect">
            <a:avLst/>
          </a:prstGeom>
        </p:spPr>
      </p:pic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69787" y="6582847"/>
            <a:ext cx="1389459" cy="854988"/>
          </a:xfrm>
          <a:prstGeom prst="rect">
            <a:avLst/>
          </a:prstGeom>
        </p:spPr>
      </p:pic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30220" y="6582847"/>
            <a:ext cx="1068824" cy="85498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8539F47-CC67-CBFA-1C46-E2D354A61E9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518040" y="7523336"/>
            <a:ext cx="2067213" cy="6287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941921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Global Master's Pathways &amp; Enterprise Offerings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69964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Global Pathways:</a:t>
            </a: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Dual Master's (30% India IIT/IIM + 70% US/UK/EU), 35+ programs, save 40–60%, post-study visas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614183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Enterprise:</a:t>
            </a: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Custom cohorts, skill audits, hire-train-deploy AI-ready talent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67598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Stats:</a:t>
            </a: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540+ partners (Fortune 500, MAANG, startups)</a:t>
            </a:r>
            <a:endParaRPr lang="en-US" sz="17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C7A14F-10A7-B73E-DDAB-2BD23E8203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66635" y="7488853"/>
            <a:ext cx="2067213" cy="6287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07613"/>
            <a:ext cx="733270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Current Website Strengths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800" y="2077045"/>
            <a:ext cx="340162" cy="3401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30906" y="2070021"/>
            <a:ext cx="98950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Clean, stats-driven homepage with strong visuals &amp; ecosystem overview</a:t>
            </a:r>
            <a:endParaRPr lang="en-US" sz="2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800" y="3218140"/>
            <a:ext cx="340162" cy="34016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30906" y="3211116"/>
            <a:ext cx="76886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Rich FLC section with leader bios, quotes, masterclasses</a:t>
            </a:r>
            <a:endParaRPr lang="en-US" sz="2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800" y="4359235"/>
            <a:ext cx="340162" cy="34016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530906" y="4352211"/>
            <a:ext cx="61735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Engaging podcast &amp; media spotlight sections</a:t>
            </a:r>
            <a:endParaRPr lang="en-US" sz="22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800" y="5500330"/>
            <a:ext cx="340162" cy="34016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530906" y="5493306"/>
            <a:ext cx="932973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Good emphasis on outcomes (job-readiness, internships, portfolios)</a:t>
            </a:r>
            <a:endParaRPr lang="en-US" sz="22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800" y="6641425"/>
            <a:ext cx="340162" cy="340162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530906" y="6634401"/>
            <a:ext cx="97977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Mobile-friendly layout with intuitive path selection ("Choose Your Path")</a:t>
            </a:r>
            <a:endParaRPr lang="en-US" sz="2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3AC02CA-E7FD-6981-4056-F9F85E8299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56361" y="7478579"/>
            <a:ext cx="2067213" cy="6287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33951"/>
            <a:ext cx="98115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Key Opportunities for Improvement 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296358"/>
            <a:ext cx="4196358" cy="2286238"/>
          </a:xfrm>
          <a:prstGeom prst="roundRect">
            <a:avLst>
              <a:gd name="adj" fmla="val 6399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3310" y="2296358"/>
            <a:ext cx="121920" cy="2286238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2524" y="2553652"/>
            <a:ext cx="3590330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C977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Fix major gaps:</a:t>
            </a: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 Multiple 404 pages (/programs, /about, /enterprise) – create proper dedicated pages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216962" y="2296358"/>
            <a:ext cx="4196358" cy="2286238"/>
          </a:xfrm>
          <a:prstGeom prst="roundRect">
            <a:avLst>
              <a:gd name="adj" fmla="val 6399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186482" y="2296358"/>
            <a:ext cx="121920" cy="2286238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565696" y="2553652"/>
            <a:ext cx="359033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C977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Add transparency:</a:t>
            </a: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 Pricing details, detailed syllabus/PDFs, batch start dates, eligibility criteria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40133" y="2296358"/>
            <a:ext cx="4196358" cy="2286238"/>
          </a:xfrm>
          <a:prstGeom prst="roundRect">
            <a:avLst>
              <a:gd name="adj" fmla="val 6399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609653" y="2296358"/>
            <a:ext cx="121920" cy="2286238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988868" y="2553652"/>
            <a:ext cx="3590330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C977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Enhance UX:</a:t>
            </a: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 Better navigation menu/search bar, filters for programs, interactive demos of FLA/FPA tools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93790" y="4809411"/>
            <a:ext cx="4196358" cy="2286238"/>
          </a:xfrm>
          <a:prstGeom prst="roundRect">
            <a:avLst>
              <a:gd name="adj" fmla="val 6399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63310" y="4809411"/>
            <a:ext cx="121920" cy="2286238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42524" y="5066705"/>
            <a:ext cx="3590330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C977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Build trust:</a:t>
            </a: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 Student/alumni testimonials + success stories, enterprise case studies, live chat/FAQ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216962" y="4809411"/>
            <a:ext cx="4196358" cy="2286238"/>
          </a:xfrm>
          <a:prstGeom prst="roundRect">
            <a:avLst>
              <a:gd name="adj" fmla="val 6399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186482" y="4809411"/>
            <a:ext cx="121920" cy="2286238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565696" y="5066705"/>
            <a:ext cx="3590330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C977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Other ideas:</a:t>
            </a: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 Free AI skill assessment tool, mobile optimization tweaks, more dynamic content (e.g., last-updated dates)</a:t>
            </a:r>
            <a:endParaRPr lang="en-US" sz="2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A6E0E10-97FA-748D-341D-14ED4F057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3187" y="7509402"/>
            <a:ext cx="2067213" cy="6287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5808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                              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2049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723561"/>
            <a:ext cx="802338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                       </a:t>
            </a:r>
            <a:r>
              <a:rPr lang="en-US" sz="88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THANK YOU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793790" y="477250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39055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600860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CEF077-5ADF-7845-0B66-F2E3AE07C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3187" y="7499128"/>
            <a:ext cx="2067213" cy="6287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495</Words>
  <Application>Microsoft Office PowerPoint</Application>
  <PresentationFormat>Custom</PresentationFormat>
  <Paragraphs>72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Inter Medium</vt:lpstr>
      <vt:lpstr>DM Sans Semi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Sharanya vemula</cp:lastModifiedBy>
  <cp:revision>3</cp:revision>
  <dcterms:created xsi:type="dcterms:W3CDTF">2026-01-20T11:06:30Z</dcterms:created>
  <dcterms:modified xsi:type="dcterms:W3CDTF">2026-01-21T10:57:52Z</dcterms:modified>
</cp:coreProperties>
</file>